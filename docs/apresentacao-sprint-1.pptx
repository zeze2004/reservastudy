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  <Relationship Id="rId13" Type="http://schemas.openxmlformats.org/officeDocument/2006/relationships/slide" Target="slides/slide7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09560" y="0"/>
            <a:ext cx="4282135" cy="6858000"/>
          </a:xfrm>
          <a:prstGeom prst="rect">
            <a:avLst/>
          </a:prstGeom>
          <a:solidFill>
            <a:srgbClr val="F8F7F2"/>
          </a:solidFill>
          <a:ln w="10160">
            <a:solidFill>
              <a:srgbClr val="F8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66928"/>
            <a:ext cx="594360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1" i="0">
                <a:solidFill>
                  <a:srgbClr val="DCE7DC"/>
                </a:solidFill>
                <a:latin typeface="Aptos"/>
              </a:defRPr>
            </a:pPr>
            <a:r>
              <a:t>PLATAFORMAS E SERVIÇOS X-OPS  ·  2026/27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508760"/>
            <a:ext cx="66294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defRPr sz="4300" b="1" i="0">
                <a:solidFill>
                  <a:srgbClr val="FFFFFF"/>
                </a:solidFill>
                <a:latin typeface="Aptos"/>
              </a:defRPr>
            </a:pPr>
            <a:r>
              <a:t>Reservar sala</a:t>
            </a:r>
            <a:br/>
            <a:r>
              <a:t>de estudo.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3337560"/>
            <a:ext cx="6126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defRPr sz="2000" b="0" i="0">
                <a:solidFill>
                  <a:srgbClr val="D4DDD6"/>
                </a:solidFill>
                <a:latin typeface="Aptos"/>
              </a:defRPr>
            </a:pPr>
            <a:r>
              <a:t>Uma primeira ideia para encontrar espaço e marcar uma sessão de estudo.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4389120"/>
            <a:ext cx="685800" cy="50292"/>
          </a:xfrm>
          <a:prstGeom prst="rect">
            <a:avLst/>
          </a:prstGeom>
          <a:solidFill>
            <a:srgbClr val="E1AB6D"/>
          </a:solidFill>
          <a:ln w="10160">
            <a:solidFill>
              <a:srgbClr val="E1A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09160"/>
            <a:ext cx="60350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José Baptista   ·   Rafael Vicente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5330952"/>
            <a:ext cx="1325880" cy="29260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344668"/>
            <a:ext cx="1197864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SPRINT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989320"/>
            <a:ext cx="667512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B8C7BB"/>
                </a:solidFill>
                <a:latin typeface="Aptos"/>
              </a:defRPr>
            </a:pPr>
            <a:r>
              <a:t>Protótipo de baixa fidelidade · trabalho em progresso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640080"/>
            <a:ext cx="315468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5B7D65"/>
                </a:solidFill>
                <a:latin typeface="Aptos"/>
              </a:defRPr>
            </a:pPr>
            <a:r>
              <a:t>FLUXO EM EXPLORAÇÃO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9327" y="1234440"/>
            <a:ext cx="3154680" cy="4389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2" y="1527048"/>
            <a:ext cx="2560320" cy="3017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500" b="1" i="0">
                <a:solidFill>
                  <a:srgbClr val="242925"/>
                </a:solidFill>
                <a:latin typeface="Aptos"/>
              </a:defRPr>
            </a:pPr>
            <a:r>
              <a:t>Reservar uma sala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22792" y="1965960"/>
            <a:ext cx="2560320" cy="0"/>
          </a:xfrm>
          <a:prstGeom prst="line">
            <a:avLst/>
          </a:prstGeom>
          <a:ln w="12700">
            <a:solidFill>
              <a:srgbClr val="DC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22792" y="2176272"/>
            <a:ext cx="256032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1" i="0">
                <a:solidFill>
                  <a:srgbClr val="6D746E"/>
                </a:solidFill>
                <a:latin typeface="Aptos"/>
              </a:defRPr>
            </a:pPr>
            <a:r>
              <a:t>01   Escolher espaço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22792" y="2587752"/>
            <a:ext cx="2560320" cy="393192"/>
          </a:xfrm>
          <a:prstGeom prst="roundRect">
            <a:avLst>
              <a:gd name="adj" fmla="val 12000"/>
            </a:avLst>
          </a:prstGeom>
          <a:solidFill>
            <a:srgbClr val="F8F7F2"/>
          </a:solidFill>
          <a:ln w="10160">
            <a:solidFill>
              <a:srgbClr val="5B7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9952" y="2624328"/>
            <a:ext cx="205740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242925"/>
                </a:solidFill>
                <a:latin typeface="Aptos"/>
              </a:defRPr>
            </a:pPr>
            <a:r>
              <a:t>Lounge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22792" y="3118104"/>
            <a:ext cx="2560320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59952" y="3154680"/>
            <a:ext cx="205740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242925"/>
                </a:solidFill>
                <a:latin typeface="Aptos"/>
              </a:defRPr>
            </a:pPr>
            <a:r>
              <a:t>Atelier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22792" y="3648456"/>
            <a:ext cx="2560320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952" y="3685032"/>
            <a:ext cx="205740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242925"/>
                </a:solidFill>
                <a:latin typeface="Aptos"/>
              </a:defRPr>
            </a:pPr>
            <a:r>
              <a:t>Sala Norte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4315968"/>
            <a:ext cx="256032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1" i="0">
                <a:solidFill>
                  <a:srgbClr val="6D746E"/>
                </a:solidFill>
                <a:latin typeface="Aptos"/>
              </a:defRPr>
            </a:pPr>
            <a:r>
              <a:t>02   Indicar horário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22792" y="4709160"/>
            <a:ext cx="2560320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9952" y="4754880"/>
            <a:ext cx="228600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6D746E"/>
                </a:solidFill>
                <a:latin typeface="Aptos"/>
              </a:defRPr>
            </a:pPr>
            <a:r>
              <a:t>Data · Início · Fim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2792" y="5285232"/>
            <a:ext cx="2560320" cy="2103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800" b="0" i="1">
                <a:solidFill>
                  <a:srgbClr val="6D746E"/>
                </a:solidFill>
                <a:latin typeface="Aptos"/>
              </a:defRPr>
            </a:pPr>
            <a:r>
              <a:t>Estrutura ilustrativa do protótipo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56032"/>
            <a:ext cx="292608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254638"/>
                </a:solidFill>
                <a:latin typeface="Aptos"/>
              </a:defRPr>
            </a:pPr>
            <a:r>
              <a:t>RESERVASTUDY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23960" y="256032"/>
            <a:ext cx="274320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900" b="1" i="0">
                <a:solidFill>
                  <a:srgbClr val="6D746E"/>
                </a:solidFill>
                <a:latin typeface="Aptos"/>
              </a:defRPr>
            </a:pPr>
            <a:r>
              <a:t>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13232"/>
            <a:ext cx="1092708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3000" b="1" i="0">
                <a:solidFill>
                  <a:srgbClr val="242925"/>
                </a:solidFill>
                <a:latin typeface="Aptos"/>
              </a:defRPr>
            </a:pPr>
            <a:r>
              <a:t>Encontrar um espaço disponível.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35024"/>
            <a:ext cx="108813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6D746E"/>
                </a:solidFill>
                <a:latin typeface="Aptos"/>
              </a:defRPr>
            </a:pPr>
            <a:r>
              <a:t>O foco deste primeiro sprint é perceber e demonstrar o fluxo essencial.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391656"/>
            <a:ext cx="10908792" cy="0"/>
          </a:xfrm>
          <a:prstGeom prst="line">
            <a:avLst/>
          </a:prstGeom>
          <a:ln w="10160">
            <a:solidFill>
              <a:srgbClr val="DC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473952"/>
            <a:ext cx="777240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José Baptista  ·  Rafael Vicente  |  X-Ops 2026/27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73152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02 /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3401568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37744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386584"/>
            <a:ext cx="438912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1100" b="1" i="0">
                <a:solidFill>
                  <a:srgbClr val="25463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2395728"/>
            <a:ext cx="2450592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5B7D65"/>
                </a:solidFill>
                <a:latin typeface="Aptos"/>
              </a:defRPr>
            </a:pPr>
            <a:r>
              <a:t>O DESAFIO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035808"/>
            <a:ext cx="29260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242925"/>
                </a:solidFill>
                <a:latin typeface="Aptos"/>
              </a:defRPr>
            </a:pPr>
            <a:r>
              <a:t>O estudante precisa de encontrar uma sala adequada e saber se o horário está livre.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148840"/>
            <a:ext cx="3401568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237744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2386584"/>
            <a:ext cx="438912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1100" b="1" i="0">
                <a:solidFill>
                  <a:srgbClr val="25463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395728"/>
            <a:ext cx="2450592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5B7D65"/>
                </a:solidFill>
                <a:latin typeface="Aptos"/>
              </a:defRPr>
            </a:pPr>
            <a:r>
              <a:t>A IDEIA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035808"/>
            <a:ext cx="29260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242925"/>
                </a:solidFill>
                <a:latin typeface="Aptos"/>
              </a:defRPr>
            </a:pPr>
            <a:r>
              <a:t>Reunir a escolha da sala, a data e o intervalo num único fluxo simples.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2148840"/>
            <a:ext cx="3401568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93608" y="237744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2386584"/>
            <a:ext cx="438912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1100" b="1" i="0">
                <a:solidFill>
                  <a:srgbClr val="25463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2395728"/>
            <a:ext cx="2450592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5B7D65"/>
                </a:solidFill>
                <a:latin typeface="Aptos"/>
              </a:defRPr>
            </a:pPr>
            <a:r>
              <a:t>A VALIDAR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3035808"/>
            <a:ext cx="29260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242925"/>
                </a:solidFill>
                <a:latin typeface="Aptos"/>
              </a:defRPr>
            </a:pPr>
            <a:r>
              <a:t>Confirmar com o docente e potenciais utilizadores se estas regras respondem à necessidade.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98848"/>
            <a:ext cx="10835640" cy="1078992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254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681728"/>
            <a:ext cx="196596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DCE7DC"/>
                </a:solidFill>
                <a:latin typeface="Aptos"/>
              </a:defRPr>
            </a:pPr>
            <a:r>
              <a:t>HISTÓRIA PRINCIPAL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001768"/>
            <a:ext cx="1005840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700" b="0" i="0">
                <a:solidFill>
                  <a:srgbClr val="FFFFFF"/>
                </a:solidFill>
                <a:latin typeface="Aptos"/>
              </a:defRPr>
            </a:pPr>
            <a:r>
              <a:t>“Como estudante, quero reservar uma sala num horário livre para ter um espaço para estudar.”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806440"/>
            <a:ext cx="1051560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1">
                <a:solidFill>
                  <a:srgbClr val="6D746E"/>
                </a:solidFill>
                <a:latin typeface="Aptos"/>
              </a:defRPr>
            </a:pPr>
            <a:r>
              <a:t>O protótipo explora a hipótese; não afirma que a necessidade já foi validada com utilizadores.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56032"/>
            <a:ext cx="292608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254638"/>
                </a:solidFill>
                <a:latin typeface="Aptos"/>
              </a:defRPr>
            </a:pPr>
            <a:r>
              <a:t>RESERVASTUDY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23960" y="256032"/>
            <a:ext cx="274320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900" b="1" i="0">
                <a:solidFill>
                  <a:srgbClr val="6D746E"/>
                </a:solidFill>
                <a:latin typeface="Aptos"/>
              </a:defRPr>
            </a:pPr>
            <a:r>
              <a:t>PROTÓTIPO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13232"/>
            <a:ext cx="1092708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3000" b="1" i="0">
                <a:solidFill>
                  <a:srgbClr val="242925"/>
                </a:solidFill>
                <a:latin typeface="Aptos"/>
              </a:defRPr>
            </a:pPr>
            <a:r>
              <a:t>Um fluxo simples, do espaço ao horário.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35024"/>
            <a:ext cx="108813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6D746E"/>
                </a:solidFill>
                <a:latin typeface="Aptos"/>
              </a:defRPr>
            </a:pPr>
            <a:r>
              <a:t>Wireframe funcional: a apresentação visual continua deliberadamente simples.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391656"/>
            <a:ext cx="10908792" cy="0"/>
          </a:xfrm>
          <a:prstGeom prst="line">
            <a:avLst/>
          </a:prstGeom>
          <a:ln w="10160">
            <a:solidFill>
              <a:srgbClr val="DC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473952"/>
            <a:ext cx="777240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José Baptista  ·  Rafael Vicente  |  X-Ops 2026/27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73152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03 /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763524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7635240" cy="438912"/>
          </a:xfrm>
          <a:prstGeom prst="roundRect">
            <a:avLst>
              <a:gd name="adj" fmla="val 12000"/>
            </a:avLst>
          </a:prstGeom>
          <a:solidFill>
            <a:srgbClr val="EFF0ED"/>
          </a:solidFill>
          <a:ln w="10160">
            <a:solidFill>
              <a:srgbClr val="EFF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020824"/>
            <a:ext cx="82296" cy="82296"/>
          </a:xfrm>
          <a:prstGeom prst="roundRect">
            <a:avLst>
              <a:gd name="adj" fmla="val 12000"/>
            </a:avLst>
          </a:prstGeom>
          <a:solidFill>
            <a:srgbClr val="AE5242"/>
          </a:solidFill>
          <a:ln w="10160">
            <a:solidFill>
              <a:srgbClr val="AE5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42415" y="2020824"/>
            <a:ext cx="82296" cy="82296"/>
          </a:xfrm>
          <a:prstGeom prst="roundRect">
            <a:avLst>
              <a:gd name="adj" fmla="val 12000"/>
            </a:avLst>
          </a:prstGeom>
          <a:solidFill>
            <a:srgbClr val="E1AB6D"/>
          </a:solidFill>
          <a:ln w="10160">
            <a:solidFill>
              <a:srgbClr val="E1A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16152" y="2020824"/>
            <a:ext cx="82296" cy="82296"/>
          </a:xfrm>
          <a:prstGeom prst="roundRect">
            <a:avLst>
              <a:gd name="adj" fmla="val 12000"/>
            </a:avLst>
          </a:prstGeom>
          <a:solidFill>
            <a:srgbClr val="5B7D65"/>
          </a:solidFill>
          <a:ln w="10160">
            <a:solidFill>
              <a:srgbClr val="5B7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1947672"/>
            <a:ext cx="5394960" cy="2103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0" i="0">
                <a:solidFill>
                  <a:srgbClr val="6D746E"/>
                </a:solidFill>
                <a:latin typeface="Aptos"/>
              </a:defRPr>
            </a:pPr>
            <a:r>
              <a:t>ReservaStudy  /  protótipo de reservas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42032"/>
            <a:ext cx="62179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600" b="1" i="0">
                <a:solidFill>
                  <a:srgbClr val="242925"/>
                </a:solidFill>
                <a:latin typeface="Aptos"/>
              </a:defRPr>
            </a:pPr>
            <a:r>
              <a:t>Reservar sala de estudo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621792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6D746E"/>
                </a:solidFill>
                <a:latin typeface="Aptos"/>
              </a:defRPr>
            </a:pPr>
            <a:r>
              <a:t>1. Escolhe uma sala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46120"/>
            <a:ext cx="2267712" cy="640080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5B7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337560"/>
            <a:ext cx="19385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1" i="0">
                <a:solidFill>
                  <a:srgbClr val="242925"/>
                </a:solidFill>
                <a:latin typeface="Aptos"/>
              </a:defRPr>
            </a:pPr>
            <a:r>
              <a:t>Sala Lounge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3593591"/>
            <a:ext cx="1938528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0" i="0">
                <a:solidFill>
                  <a:srgbClr val="6D746E"/>
                </a:solidFill>
                <a:latin typeface="Aptos"/>
              </a:defRPr>
            </a:pPr>
            <a:r>
              <a:t>Até 2 pessoas · silêncio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46120"/>
            <a:ext cx="2267712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65576" y="3337560"/>
            <a:ext cx="19385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1" i="0">
                <a:solidFill>
                  <a:srgbClr val="242925"/>
                </a:solidFill>
                <a:latin typeface="Aptos"/>
              </a:defRPr>
            </a:pPr>
            <a:r>
              <a:t>Atelier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5576" y="3593591"/>
            <a:ext cx="1938528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0" i="0">
                <a:solidFill>
                  <a:srgbClr val="6D746E"/>
                </a:solidFill>
                <a:latin typeface="Aptos"/>
              </a:defRPr>
            </a:pPr>
            <a:r>
              <a:t>Até 4 pessoas · quadro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005072"/>
            <a:ext cx="2267712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" y="4096511"/>
            <a:ext cx="19385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1" i="0">
                <a:solidFill>
                  <a:srgbClr val="242925"/>
                </a:solidFill>
                <a:latin typeface="Aptos"/>
              </a:defRPr>
            </a:pPr>
            <a:r>
              <a:t>Sala Norte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" y="4352544"/>
            <a:ext cx="1938528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0" i="0">
                <a:solidFill>
                  <a:srgbClr val="6D746E"/>
                </a:solidFill>
                <a:latin typeface="Aptos"/>
              </a:defRPr>
            </a:pPr>
            <a:r>
              <a:t>Até 6 pessoas · ecrã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7560" y="4005072"/>
            <a:ext cx="2267712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65576" y="4096511"/>
            <a:ext cx="19385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1" i="0">
                <a:solidFill>
                  <a:srgbClr val="242925"/>
                </a:solidFill>
                <a:latin typeface="Aptos"/>
              </a:defRPr>
            </a:pPr>
            <a:r>
              <a:t>Sala Jardim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5576" y="4352544"/>
            <a:ext cx="1938528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0" i="0">
                <a:solidFill>
                  <a:srgbClr val="6D746E"/>
                </a:solidFill>
                <a:latin typeface="Aptos"/>
              </a:defRPr>
            </a:pPr>
            <a:r>
              <a:t>Até 8 pessoas · luz natural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00600"/>
            <a:ext cx="621792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6D746E"/>
                </a:solidFill>
                <a:latin typeface="Aptos"/>
              </a:defRPr>
            </a:pPr>
            <a:r>
              <a:t>2. Indica o dia e o horário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102352"/>
            <a:ext cx="1938528" cy="1737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6D746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5312664"/>
            <a:ext cx="193852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358384"/>
            <a:ext cx="173736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242925"/>
                </a:solidFill>
                <a:latin typeface="Aptos"/>
              </a:defRPr>
            </a:pPr>
            <a:r>
              <a:t>dd/mm/aaaa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35808" y="5102352"/>
            <a:ext cx="1143000" cy="1737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6D746E"/>
                </a:solidFill>
                <a:latin typeface="Aptos"/>
              </a:defRPr>
            </a:pPr>
            <a:r>
              <a:t>INÍCIO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5808" y="5312664"/>
            <a:ext cx="114300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36391" y="5358384"/>
            <a:ext cx="941832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242925"/>
                </a:solidFill>
                <a:latin typeface="Aptos"/>
              </a:defRPr>
            </a:pPr>
            <a:r>
              <a:t>14:00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2544" y="5102352"/>
            <a:ext cx="1143000" cy="1737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6D746E"/>
                </a:solidFill>
                <a:latin typeface="Aptos"/>
              </a:defRPr>
            </a:pPr>
            <a:r>
              <a:t>FIM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52544" y="5312664"/>
            <a:ext cx="114300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53128" y="5358384"/>
            <a:ext cx="941832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242925"/>
                </a:solidFill>
                <a:latin typeface="Aptos"/>
              </a:defRPr>
            </a:pPr>
            <a:r>
              <a:t>15:00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87568" y="5312664"/>
            <a:ext cx="1481328" cy="384048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254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5349240"/>
            <a:ext cx="1335024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Verificar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05088" y="1956816"/>
            <a:ext cx="256032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5B7D65"/>
                </a:solidFill>
                <a:latin typeface="Aptos"/>
              </a:defRPr>
            </a:pPr>
            <a:r>
              <a:t>O QUE DEMONSTRAR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0" y="25146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253746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2510028"/>
            <a:ext cx="22402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200" b="0" i="0">
                <a:solidFill>
                  <a:srgbClr val="242925"/>
                </a:solidFill>
                <a:latin typeface="Aptos"/>
              </a:defRPr>
            </a:pPr>
            <a:r>
              <a:t>Escolher uma das salas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0" y="338328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34061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3378708"/>
            <a:ext cx="22402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200" b="0" i="0">
                <a:solidFill>
                  <a:srgbClr val="242925"/>
                </a:solidFill>
                <a:latin typeface="Aptos"/>
              </a:defRPr>
            </a:pPr>
            <a:r>
              <a:t>Indicar um intervalo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425196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0" y="427482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247388"/>
            <a:ext cx="22402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200" b="0" i="0">
                <a:solidFill>
                  <a:srgbClr val="242925"/>
                </a:solidFill>
                <a:latin typeface="Aptos"/>
              </a:defRPr>
            </a:pPr>
            <a:r>
              <a:t>Verificar conflito ou disponibilidade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68512" y="5257800"/>
            <a:ext cx="2560320" cy="603504"/>
          </a:xfrm>
          <a:prstGeom prst="roundRect">
            <a:avLst>
              <a:gd name="adj" fmla="val 12000"/>
            </a:avLst>
          </a:prstGeom>
          <a:solidFill>
            <a:srgbClr val="F5EDE2"/>
          </a:solidFill>
          <a:ln w="10160">
            <a:solidFill>
              <a:srgbClr val="EED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33104" y="5349240"/>
            <a:ext cx="22402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0" i="0">
                <a:solidFill>
                  <a:srgbClr val="242925"/>
                </a:solidFill>
                <a:latin typeface="Aptos"/>
              </a:defRPr>
            </a:pPr>
            <a:r>
              <a:t>Dados de demonstração; não representam disponibilidade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56032"/>
            <a:ext cx="292608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254638"/>
                </a:solidFill>
                <a:latin typeface="Aptos"/>
              </a:defRPr>
            </a:pPr>
            <a:r>
              <a:t>RESERVASTUDY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23960" y="256032"/>
            <a:ext cx="274320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900" b="1" i="0">
                <a:solidFill>
                  <a:srgbClr val="6D746E"/>
                </a:solidFill>
                <a:latin typeface="Aptos"/>
              </a:defRPr>
            </a:pPr>
            <a:r>
              <a:t>REGRAS &amp;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13232"/>
            <a:ext cx="1092708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3000" b="1" i="0">
                <a:solidFill>
                  <a:srgbClr val="242925"/>
                </a:solidFill>
                <a:latin typeface="Aptos"/>
              </a:defRPr>
            </a:pPr>
            <a:r>
              <a:t>O que acontece quando se tenta reservar?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35024"/>
            <a:ext cx="108813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6D746E"/>
                </a:solidFill>
                <a:latin typeface="Aptos"/>
              </a:defRPr>
            </a:pPr>
            <a:r>
              <a:t>Critérios pequenos e verificáveis para o primeiro incremento.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391656"/>
            <a:ext cx="10908792" cy="0"/>
          </a:xfrm>
          <a:prstGeom prst="line">
            <a:avLst/>
          </a:prstGeom>
          <a:ln w="10160">
            <a:solidFill>
              <a:srgbClr val="DC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473952"/>
            <a:ext cx="777240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José Baptista  ·  Rafael Vicente  |  X-Ops 2026/27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73152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04 /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67665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249424"/>
            <a:ext cx="393192" cy="39319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258568"/>
            <a:ext cx="39319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203703"/>
            <a:ext cx="544068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300" b="1" i="0">
                <a:solidFill>
                  <a:srgbClr val="242925"/>
                </a:solidFill>
                <a:latin typeface="Aptos"/>
              </a:defRPr>
            </a:pPr>
            <a:r>
              <a:t>Intervalo válido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496312"/>
            <a:ext cx="5440680" cy="228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6D746E"/>
                </a:solidFill>
                <a:latin typeface="Aptos"/>
              </a:defRPr>
            </a:pPr>
            <a:r>
              <a:t>Fim posterior ao início; entre as 08:00 e as 21:00.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67665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2688" y="3273552"/>
            <a:ext cx="393192" cy="39319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282696"/>
            <a:ext cx="39319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27832"/>
            <a:ext cx="544068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300" b="1" i="0">
                <a:solidFill>
                  <a:srgbClr val="242925"/>
                </a:solidFill>
                <a:latin typeface="Aptos"/>
              </a:defRPr>
            </a:pPr>
            <a:r>
              <a:t>Sem sobreposição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520440"/>
            <a:ext cx="5440680" cy="228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6D746E"/>
                </a:solidFill>
                <a:latin typeface="Aptos"/>
              </a:defRPr>
            </a:pPr>
            <a:r>
              <a:t>A mesma sala não pode ter reservas coincidentes no mesmo dia.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33087"/>
            <a:ext cx="67665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2688" y="4297679"/>
            <a:ext cx="393192" cy="39319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306824"/>
            <a:ext cx="39319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251959"/>
            <a:ext cx="544068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300" b="1" i="0">
                <a:solidFill>
                  <a:srgbClr val="242925"/>
                </a:solidFill>
                <a:latin typeface="Aptos"/>
              </a:defRPr>
            </a:pPr>
            <a:r>
              <a:t>Confirmação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544568"/>
            <a:ext cx="5440680" cy="228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6D746E"/>
                </a:solidFill>
                <a:latin typeface="Aptos"/>
              </a:defRPr>
            </a:pPr>
            <a:r>
              <a:t>Uma reserva válida surge na lista e fica guardada neste navegador.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9560" y="2084831"/>
            <a:ext cx="3493008" cy="2825496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254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359152"/>
            <a:ext cx="2871216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DCE7DC"/>
                </a:solidFill>
                <a:latin typeface="Aptos"/>
              </a:defRPr>
            </a:pPr>
            <a:r>
              <a:t>TESTES AUTOMATIZADOS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2798064"/>
            <a:ext cx="2871216" cy="8412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4200" b="1" i="0">
                <a:solidFill>
                  <a:srgbClr val="FFFFFF"/>
                </a:solidFill>
                <a:latin typeface="Aptos"/>
              </a:defRPr>
            </a:pPr>
            <a:r>
              <a:t>7 /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3776472"/>
            <a:ext cx="274320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ptos"/>
              </a:defRPr>
            </a:pPr>
            <a:r>
              <a:t>a passar no CI do GitHub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4334256"/>
            <a:ext cx="1353312" cy="29260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4347972"/>
            <a:ext cx="122529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npm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5468112"/>
            <a:ext cx="104241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200" b="0" i="1">
                <a:solidFill>
                  <a:srgbClr val="6D746E"/>
                </a:solidFill>
                <a:latin typeface="Aptos"/>
              </a:defRPr>
            </a:pPr>
            <a:r>
              <a:t>A disponibilidade é apenas local: ainda não há servidor que coordene reservas entre estudantes.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56032"/>
            <a:ext cx="292608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254638"/>
                </a:solidFill>
                <a:latin typeface="Aptos"/>
              </a:defRPr>
            </a:pPr>
            <a:r>
              <a:t>RESERVASTUDY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23960" y="256032"/>
            <a:ext cx="274320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900" b="1" i="0">
                <a:solidFill>
                  <a:srgbClr val="6D746E"/>
                </a:solidFill>
                <a:latin typeface="Aptos"/>
              </a:defRPr>
            </a:pPr>
            <a:r>
              <a:t>DECISÕES TÉCNICAS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13232"/>
            <a:ext cx="1092708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3000" b="1" i="0">
                <a:solidFill>
                  <a:srgbClr val="242925"/>
                </a:solidFill>
                <a:latin typeface="Aptos"/>
              </a:defRPr>
            </a:pPr>
            <a:r>
              <a:t>Uma base pequena para evoluir.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35024"/>
            <a:ext cx="108813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6D746E"/>
                </a:solidFill>
                <a:latin typeface="Aptos"/>
              </a:defRPr>
            </a:pPr>
            <a:r>
              <a:t>O objetivo não é simular um produto pronto, mas testar um fluxo e aprender com ele.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391656"/>
            <a:ext cx="10908792" cy="0"/>
          </a:xfrm>
          <a:prstGeom prst="line">
            <a:avLst/>
          </a:prstGeom>
          <a:ln w="10160">
            <a:solidFill>
              <a:srgbClr val="DC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473952"/>
            <a:ext cx="777240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José Baptista  ·  Rafael Vicente  |  X-Ops 2026/27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73152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05 /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84831"/>
            <a:ext cx="340156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286000"/>
            <a:ext cx="1143000" cy="29260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299716"/>
            <a:ext cx="1014983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INTERFACE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43200"/>
            <a:ext cx="2926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500" b="1" i="0">
                <a:solidFill>
                  <a:srgbClr val="242925"/>
                </a:solidFill>
                <a:latin typeface="Aptos"/>
              </a:defRPr>
            </a:pPr>
            <a:r>
              <a:t>Página web simples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136392"/>
            <a:ext cx="2926080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0" i="0">
                <a:solidFill>
                  <a:srgbClr val="6D746E"/>
                </a:solidFill>
                <a:latin typeface="Aptos"/>
              </a:defRPr>
            </a:pPr>
            <a:r>
              <a:t>Escolher sala e indicar horário.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88336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1700" b="1" i="0">
                <a:solidFill>
                  <a:srgbClr val="5B7D65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084831"/>
            <a:ext cx="340156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36008" y="2286000"/>
            <a:ext cx="1143000" cy="29260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0016" y="2299716"/>
            <a:ext cx="1014983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REGRAS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2743200"/>
            <a:ext cx="2926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500" b="1" i="0">
                <a:solidFill>
                  <a:srgbClr val="242925"/>
                </a:solidFill>
                <a:latin typeface="Aptos"/>
              </a:defRPr>
            </a:pPr>
            <a:r>
              <a:t>Lógica separada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3136392"/>
            <a:ext cx="2926080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0" i="0">
                <a:solidFill>
                  <a:srgbClr val="6D746E"/>
                </a:solidFill>
                <a:latin typeface="Aptos"/>
              </a:defRPr>
            </a:pPr>
            <a:r>
              <a:t>Validar datas, horas e conflitos.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8" y="2688336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1700" b="1" i="0">
                <a:solidFill>
                  <a:srgbClr val="5B7D65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2084831"/>
            <a:ext cx="340156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57616" y="2286000"/>
            <a:ext cx="1143000" cy="29260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1624" y="2299716"/>
            <a:ext cx="1014983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DADOS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2743200"/>
            <a:ext cx="2926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500" b="1" i="0">
                <a:solidFill>
                  <a:srgbClr val="242925"/>
                </a:solidFill>
                <a:latin typeface="Aptos"/>
              </a:defRPr>
            </a:pPr>
            <a:r>
              <a:t>Armazenamento local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3136392"/>
            <a:ext cx="2926080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100" b="0" i="0">
                <a:solidFill>
                  <a:srgbClr val="6D746E"/>
                </a:solidFill>
                <a:latin typeface="Aptos"/>
              </a:defRPr>
            </a:pPr>
            <a:r>
              <a:t>Os dados ficam neste navegador.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069080"/>
            <a:ext cx="5166360" cy="1188720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254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279392"/>
            <a:ext cx="452628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DCE7DC"/>
                </a:solidFill>
                <a:latin typeface="Aptos"/>
              </a:defRPr>
            </a:pPr>
            <a:r>
              <a:t>NESTE INCREMENTO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4590288"/>
            <a:ext cx="45262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Aptos"/>
              </a:defRPr>
            </a:pPr>
            <a:r>
              <a:t>Protótipo local · regras testadas · CI no GitHub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4069080"/>
            <a:ext cx="51663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2512" y="4279392"/>
            <a:ext cx="452628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5B7D65"/>
                </a:solidFill>
                <a:latin typeface="Aptos"/>
              </a:defRPr>
            </a:pPr>
            <a:r>
              <a:t>A DESENVOLVER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590288"/>
            <a:ext cx="45720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200" b="0" i="0">
                <a:solidFill>
                  <a:srgbClr val="242925"/>
                </a:solidFill>
                <a:latin typeface="Aptos"/>
              </a:defRPr>
            </a:pPr>
            <a:r>
              <a:t>Contas · backend partilhado · segurança · observabilidade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522976"/>
            <a:ext cx="10332720" cy="6126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0" i="1">
                <a:solidFill>
                  <a:srgbClr val="6D746E"/>
                </a:solidFill>
                <a:latin typeface="Aptos"/>
              </a:defRPr>
            </a:pPr>
            <a:r>
              <a:t>CI a correr no GitHub em cada push. Copilot Chat apoiou o desenvolvimento; ainda não há gate de IA.</a:t>
            </a:r>
            <a:br/>
            <a:r>
              <a:t>P1 (feedback arquitetural) a partir do Sprint 2 · P2 (reprodutibilidade dos gates) a partir do Sprint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84632"/>
            <a:ext cx="365760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DCE7DC"/>
                </a:solidFill>
                <a:latin typeface="Aptos"/>
              </a:defRPr>
            </a:pPr>
            <a:r>
              <a:t>07  / 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97280"/>
            <a:ext cx="10424160" cy="6949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3300" b="1" i="0">
                <a:solidFill>
                  <a:srgbClr val="FFFFFF"/>
                </a:solidFill>
                <a:latin typeface="Aptos"/>
              </a:defRPr>
            </a:pPr>
            <a:r>
              <a:t>Do wireframe ao primeiro teste.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47088"/>
            <a:ext cx="9875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600" b="0" i="0">
                <a:solidFill>
                  <a:srgbClr val="CFDCD2"/>
                </a:solidFill>
                <a:latin typeface="Aptos"/>
              </a:defRPr>
            </a:pPr>
            <a:r>
              <a:t>Uma demonstração curta do que já é possível explorar.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2651760"/>
            <a:ext cx="5029200" cy="713232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4C6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807208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2549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788920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Aptos"/>
              </a:defRPr>
            </a:pPr>
            <a:r>
              <a:t>Escolher uma sala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2651760"/>
            <a:ext cx="5029200" cy="713232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4C6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2807208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0296" y="2788920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Aptos"/>
              </a:defRPr>
            </a:pPr>
            <a:r>
              <a:t>Tentar um horário já ocupado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93591"/>
            <a:ext cx="5029200" cy="713232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4C6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749039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6732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373075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Aptos"/>
              </a:defRPr>
            </a:pPr>
            <a:r>
              <a:t>Reservar um horário livre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3593591"/>
            <a:ext cx="5029200" cy="713232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4C6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80" y="3749039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6732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0296" y="373075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Aptos"/>
              </a:defRPr>
            </a:pPr>
            <a:r>
              <a:t>Executar `npm test`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9808" y="4919472"/>
            <a:ext cx="10634472" cy="0"/>
          </a:xfrm>
          <a:prstGeom prst="line">
            <a:avLst/>
          </a:prstGeom>
          <a:ln w="12700">
            <a:solidFill>
              <a:srgbClr val="4B66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9808" y="5212080"/>
            <a:ext cx="493776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DCE7DC"/>
                </a:solidFill>
                <a:latin typeface="Aptos"/>
              </a:defRPr>
            </a:pPr>
            <a:r>
              <a:t>EQUIPA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504688"/>
            <a:ext cx="51206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José Baptista  ·  Rafael Vicente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212080"/>
            <a:ext cx="475488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DCE7DC"/>
                </a:solidFill>
                <a:latin typeface="Aptos"/>
              </a:defRPr>
            </a:pPr>
            <a:r>
              <a:t>PERGUNTA PARA DISCUSSÃO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504688"/>
            <a:ext cx="4800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Aptos"/>
              </a:defRPr>
            </a:pPr>
            <a:r>
              <a:t>Que regra ou necessidade devemos validar a seguir?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437376"/>
            <a:ext cx="1069848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800" b="0" i="0">
                <a:solidFill>
                  <a:srgbClr val="B8C7BB"/>
                </a:solidFill>
                <a:latin typeface="Aptos"/>
              </a:defRPr>
            </a:pPr>
            <a:r>
              <a:t>ReservaStudy · protótipo inicial de Sprint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56032"/>
            <a:ext cx="292608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1" i="0">
                <a:solidFill>
                  <a:srgbClr val="254638"/>
                </a:solidFill>
                <a:latin typeface="Aptos"/>
              </a:defRPr>
            </a:pPr>
            <a:r>
              <a:t>RESERVASTUDY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23960" y="256032"/>
            <a:ext cx="274320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900" b="1" i="0">
                <a:solidFill>
                  <a:srgbClr val="6D746E"/>
                </a:solidFill>
                <a:latin typeface="Aptos"/>
              </a:defRPr>
            </a:pPr>
            <a:r>
              <a:t>SCRUM &amp; EQUIPA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13232"/>
            <a:ext cx="1092708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3000" b="1" i="0">
                <a:solidFill>
                  <a:srgbClr val="242925"/>
                </a:solidFill>
                <a:latin typeface="Aptos"/>
              </a:defRPr>
            </a:pPr>
            <a:r>
              <a:t>Como nos organizámos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35024"/>
            <a:ext cx="108813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6D746E"/>
                </a:solidFill>
                <a:latin typeface="Aptos"/>
              </a:defRPr>
            </a:pPr>
            <a:r>
              <a:t>Papéis, acordos e evidências registadas no Jira.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391656"/>
            <a:ext cx="10908792" cy="0"/>
          </a:xfrm>
          <a:prstGeom prst="line">
            <a:avLst/>
          </a:prstGeom>
          <a:ln w="10160">
            <a:solidFill>
              <a:srgbClr val="DC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473952"/>
            <a:ext cx="777240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José Baptista  ·  Rafael Vicente  |  X-Ops 2026/27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73152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defRPr sz="800" b="0" i="0">
                <a:solidFill>
                  <a:srgbClr val="6D746E"/>
                </a:solidFill>
                <a:latin typeface="Aptos"/>
              </a:defRPr>
            </a:pPr>
            <a:r>
              <a:t>06 /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67665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249424"/>
            <a:ext cx="393192" cy="39319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258568"/>
            <a:ext cx="39319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203703"/>
            <a:ext cx="544068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300" b="1" i="0">
                <a:solidFill>
                  <a:srgbClr val="242925"/>
                </a:solidFill>
                <a:latin typeface="Aptos"/>
              </a:defRPr>
            </a:pPr>
            <a:r>
              <a:t>Product Owner: Rafael Vicente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496312"/>
            <a:ext cx="5440680" cy="228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6D746E"/>
                </a:solidFill>
                <a:latin typeface="Aptos"/>
              </a:defRPr>
            </a:pPr>
            <a:r>
              <a:t>Mantém a visão, ordena o backlog e aceita o incremento.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67665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2688" y="3273552"/>
            <a:ext cx="393192" cy="39319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282696"/>
            <a:ext cx="39319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27832"/>
            <a:ext cx="544068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300" b="1" i="0">
                <a:solidFill>
                  <a:srgbClr val="242925"/>
                </a:solidFill>
                <a:latin typeface="Aptos"/>
              </a:defRPr>
            </a:pPr>
            <a:r>
              <a:t>Rotação alternada de 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520440"/>
            <a:ext cx="5440680" cy="228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6D746E"/>
                </a:solidFill>
                <a:latin typeface="Aptos"/>
              </a:defRPr>
            </a:pPr>
            <a:r>
              <a:t>S1 Rafael · S2 José · S3 Rafael · S4 José · S5 Rafael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33087"/>
            <a:ext cx="67665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2688" y="4297679"/>
            <a:ext cx="393192" cy="393192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306824"/>
            <a:ext cx="39319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251959"/>
            <a:ext cx="544068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300" b="1" i="0">
                <a:solidFill>
                  <a:srgbClr val="242925"/>
                </a:solidFill>
                <a:latin typeface="Aptos"/>
              </a:defRPr>
            </a:pPr>
            <a:r>
              <a:t>Contrato de equipa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544568"/>
            <a:ext cx="5440680" cy="2286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000" b="0" i="0">
                <a:solidFill>
                  <a:srgbClr val="6D746E"/>
                </a:solidFill>
                <a:latin typeface="Aptos"/>
              </a:defRPr>
            </a:pPr>
            <a:r>
              <a:t>Assinado pelos dois a 15/10/2026.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9560" y="2084831"/>
            <a:ext cx="3493008" cy="2825496"/>
          </a:xfrm>
          <a:prstGeom prst="roundRect">
            <a:avLst>
              <a:gd name="adj" fmla="val 12000"/>
            </a:avLst>
          </a:prstGeom>
          <a:solidFill>
            <a:srgbClr val="254638"/>
          </a:solidFill>
          <a:ln w="10160">
            <a:solidFill>
              <a:srgbClr val="254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359152"/>
            <a:ext cx="2871216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900" b="1" i="0">
                <a:solidFill>
                  <a:srgbClr val="DCE7DC"/>
                </a:solidFill>
                <a:latin typeface="Aptos"/>
              </a:defRPr>
            </a:pPr>
            <a:r>
              <a:t>JIRA · SPRINT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2798064"/>
            <a:ext cx="2871216" cy="8412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4200" b="1" i="0">
                <a:solidFill>
                  <a:srgbClr val="FFFFFF"/>
                </a:solidFill>
                <a:latin typeface="Aptos"/>
              </a:defRPr>
            </a:pPr>
            <a:r>
              <a:t>5 /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3776472"/>
            <a:ext cx="274320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ptos"/>
              </a:defRPr>
            </a:pPr>
            <a:r>
              <a:t>issues concluídas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4334256"/>
            <a:ext cx="1353312" cy="292608"/>
          </a:xfrm>
          <a:prstGeom prst="roundRect">
            <a:avLst>
              <a:gd name="adj" fmla="val 12000"/>
            </a:avLst>
          </a:prstGeom>
          <a:solidFill>
            <a:srgbClr val="DCE7DC"/>
          </a:solidFill>
          <a:ln w="10160">
            <a:solidFill>
              <a:srgbClr val="DC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4347972"/>
            <a:ext cx="122529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 i="0">
                <a:solidFill>
                  <a:srgbClr val="254638"/>
                </a:solidFill>
                <a:latin typeface="Aptos"/>
              </a:defRPr>
            </a:pPr>
            <a:r>
              <a:t>XOG 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5468112"/>
            <a:ext cx="104241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defRPr sz="1200" b="0" i="1">
                <a:solidFill>
                  <a:srgbClr val="6D746E"/>
                </a:solidFill>
                <a:latin typeface="Aptos"/>
              </a:defRPr>
            </a:pPr>
            <a:r>
              <a:t>Review e retrospetiva registadas no Jira. Ação para o Sprint 2: push diário com CI a passar.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ReservaStudy | Revisão do Sprint 1</dc:title>
  <dc:subject>Protótipo inicial de reservas de salas de estudo</dc:subject>
  <dc:creator>José Baptista; Rafael Vicente</dc:creator>
  <cp:keywords>X-Ops, Sprint 1, reserva salas, protótipo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