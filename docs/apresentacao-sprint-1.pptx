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F8F7F2"/>
          </a:solidFill>
          <a:ln w="10160">
            <a:solidFill>
              <a:srgbClr val="F8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66928"/>
            <a:ext cx="594360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DCE7DC"/>
                </a:solidFill>
                <a:latin typeface="Aptos"/>
              </a:defRPr>
            </a:pPr>
            <a:r>
              <a:t>PLATAFORMAS E SERVIÇOS X-OPS  ·  2026/27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66294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4300" b="1" i="0">
                <a:solidFill>
                  <a:srgbClr val="FFFFFF"/>
                </a:solidFill>
                <a:latin typeface="Aptos"/>
              </a:defRPr>
            </a:pPr>
            <a:r>
              <a:t>Reservar sala</a:t>
            </a:r>
            <a:br/>
            <a:r>
              <a:t>de estudo.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337560"/>
            <a:ext cx="612648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000" b="0" i="0">
                <a:solidFill>
                  <a:srgbClr val="D4DDD6"/>
                </a:solidFill>
                <a:latin typeface="Aptos"/>
              </a:defRPr>
            </a:pPr>
            <a:r>
              <a:t>Uma primeira ideia para encontrar espaço e marcar uma sessão de estudo.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4389120"/>
            <a:ext cx="685800" cy="50292"/>
          </a:xfrm>
          <a:prstGeom prst="rect">
            <a:avLst/>
          </a:prstGeom>
          <a:solidFill>
            <a:srgbClr val="E1AB6D"/>
          </a:solidFill>
          <a:ln w="10160">
            <a:solidFill>
              <a:srgbClr val="E1A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709160"/>
            <a:ext cx="603504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José Baptista   ·   Rafael Vicente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5330952"/>
            <a:ext cx="1325880" cy="29260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344668"/>
            <a:ext cx="1197864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SPRINT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989320"/>
            <a:ext cx="66751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B8C7BB"/>
                </a:solidFill>
                <a:latin typeface="Aptos"/>
              </a:defRPr>
            </a:pPr>
            <a:r>
              <a:t>Protótipo de baixa fidelidade · trabalho em progresso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40080"/>
            <a:ext cx="315468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5B7D65"/>
                </a:solidFill>
                <a:latin typeface="Aptos"/>
              </a:defRPr>
            </a:pPr>
            <a:r>
              <a:t>FLUXO EM EXPLORAÇÃO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1234440"/>
            <a:ext cx="31546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527048"/>
            <a:ext cx="2560320" cy="3017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242925"/>
                </a:solidFill>
                <a:latin typeface="Aptos"/>
              </a:defRPr>
            </a:pPr>
            <a:r>
              <a:t>Reservar uma sala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22792" y="1965960"/>
            <a:ext cx="2560320" cy="0"/>
          </a:xfrm>
          <a:prstGeom prst="line">
            <a:avLst/>
          </a:prstGeom>
          <a:ln w="12700">
            <a:solidFill>
              <a:srgbClr val="DC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22792" y="2176272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6D746E"/>
                </a:solidFill>
                <a:latin typeface="Aptos"/>
              </a:defRPr>
            </a:pPr>
            <a:r>
              <a:t>01   Escolher espaço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22792" y="2587752"/>
            <a:ext cx="2560320" cy="393192"/>
          </a:xfrm>
          <a:prstGeom prst="roundRect">
            <a:avLst>
              <a:gd name="adj" fmla="val 12000"/>
            </a:avLst>
          </a:prstGeom>
          <a:solidFill>
            <a:srgbClr val="F8F7F2"/>
          </a:solidFill>
          <a:ln w="10160">
            <a:solidFill>
              <a:srgbClr val="5B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2624328"/>
            <a:ext cx="2057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42925"/>
                </a:solidFill>
                <a:latin typeface="Aptos"/>
              </a:defRPr>
            </a:pPr>
            <a:r>
              <a:t>Lounge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22792" y="3118104"/>
            <a:ext cx="256032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9952" y="3154680"/>
            <a:ext cx="2057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42925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22792" y="3648456"/>
            <a:ext cx="256032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3685032"/>
            <a:ext cx="20574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42925"/>
                </a:solidFill>
                <a:latin typeface="Aptos"/>
              </a:defRPr>
            </a:pPr>
            <a:r>
              <a:t>Sala Norte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4315968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6D746E"/>
                </a:solidFill>
                <a:latin typeface="Aptos"/>
              </a:defRPr>
            </a:pPr>
            <a:r>
              <a:t>02   Indicar horário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22792" y="4709160"/>
            <a:ext cx="256032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9952" y="4754880"/>
            <a:ext cx="22860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6D746E"/>
                </a:solidFill>
                <a:latin typeface="Aptos"/>
              </a:defRPr>
            </a:pPr>
            <a:r>
              <a:t>Data · Início · Fim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5285232"/>
            <a:ext cx="2560320" cy="2103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800" b="0" i="1">
                <a:solidFill>
                  <a:srgbClr val="6D746E"/>
                </a:solidFill>
                <a:latin typeface="Aptos"/>
              </a:defRPr>
            </a:pPr>
            <a:r>
              <a:t>Estrutura ilustrativa do protótipo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29260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54638"/>
                </a:solidFill>
                <a:latin typeface="Aptos"/>
              </a:defRPr>
            </a:pPr>
            <a:r>
              <a:t>RESERVASTUDY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256032"/>
            <a:ext cx="27432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900" b="1" i="0">
                <a:solidFill>
                  <a:srgbClr val="6D746E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27080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3000" b="1" i="0">
                <a:solidFill>
                  <a:srgbClr val="242925"/>
                </a:solidFill>
                <a:latin typeface="Aptos"/>
              </a:defRPr>
            </a:pPr>
            <a:r>
              <a:t>Encontrar um espaço disponível.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8813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6D746E"/>
                </a:solidFill>
                <a:latin typeface="Aptos"/>
              </a:defRPr>
            </a:pPr>
            <a:r>
              <a:t>O foco deste primeiro sprint é perceber e demonstrar o fluxo essencial.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91656"/>
            <a:ext cx="10908792" cy="0"/>
          </a:xfrm>
          <a:prstGeom prst="line">
            <a:avLst/>
          </a:prstGeom>
          <a:ln w="10160">
            <a:solidFill>
              <a:srgbClr val="DC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José Baptista  ·  Rafael Vicente  |  X-Ops 2026/27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340156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37744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386584"/>
            <a:ext cx="438912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1100" b="1" i="0">
                <a:solidFill>
                  <a:srgbClr val="25463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2395728"/>
            <a:ext cx="245059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5B7D65"/>
                </a:solidFill>
                <a:latin typeface="Aptos"/>
              </a:defRPr>
            </a:pPr>
            <a:r>
              <a:t>O DESAFIO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035808"/>
            <a:ext cx="2926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242925"/>
                </a:solidFill>
                <a:latin typeface="Aptos"/>
              </a:defRPr>
            </a:pPr>
            <a:r>
              <a:t>O estudante precisa de encontrar uma sala adequada e saber se o horário está livre.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48840"/>
            <a:ext cx="340156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237744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386584"/>
            <a:ext cx="438912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1100" b="1" i="0">
                <a:solidFill>
                  <a:srgbClr val="25463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395728"/>
            <a:ext cx="245059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5B7D65"/>
                </a:solidFill>
                <a:latin typeface="Aptos"/>
              </a:defRPr>
            </a:pPr>
            <a:r>
              <a:t>A IDEIA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035808"/>
            <a:ext cx="2926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242925"/>
                </a:solidFill>
                <a:latin typeface="Aptos"/>
              </a:defRPr>
            </a:pPr>
            <a:r>
              <a:t>Reunir a escolha da sala, a data e o intervalo num único fluxo simples.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48840"/>
            <a:ext cx="3401568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93608" y="237744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2386584"/>
            <a:ext cx="438912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1100" b="1" i="0">
                <a:solidFill>
                  <a:srgbClr val="25463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2395728"/>
            <a:ext cx="245059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5B7D65"/>
                </a:solidFill>
                <a:latin typeface="Aptos"/>
              </a:defRPr>
            </a:pPr>
            <a:r>
              <a:t>A VALIDAR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035808"/>
            <a:ext cx="2926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242925"/>
                </a:solidFill>
                <a:latin typeface="Aptos"/>
              </a:defRPr>
            </a:pPr>
            <a:r>
              <a:t>Confirmar com o docente e potenciais utilizadores se estas regras respondem à necessidade.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98848"/>
            <a:ext cx="10835640" cy="1078992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254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681728"/>
            <a:ext cx="196596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DCE7DC"/>
                </a:solidFill>
                <a:latin typeface="Aptos"/>
              </a:defRPr>
            </a:pPr>
            <a:r>
              <a:t>HISTÓRIA PRINCIPAL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001768"/>
            <a:ext cx="1005840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700" b="0" i="0">
                <a:solidFill>
                  <a:srgbClr val="FFFFFF"/>
                </a:solidFill>
                <a:latin typeface="Aptos"/>
              </a:defRPr>
            </a:pPr>
            <a:r>
              <a:t>“Como estudante, quero reservar uma sala num horário livre para ter um espaço para estudar.”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806440"/>
            <a:ext cx="105156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1">
                <a:solidFill>
                  <a:srgbClr val="6D746E"/>
                </a:solidFill>
                <a:latin typeface="Aptos"/>
              </a:defRPr>
            </a:pPr>
            <a:r>
              <a:t>O protótipo explora a hipótese; não afirma que a necessidade já foi validada com utilizadores.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29260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54638"/>
                </a:solidFill>
                <a:latin typeface="Aptos"/>
              </a:defRPr>
            </a:pPr>
            <a:r>
              <a:t>RESERVASTUDY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256032"/>
            <a:ext cx="27432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900" b="1" i="0">
                <a:solidFill>
                  <a:srgbClr val="6D746E"/>
                </a:solidFill>
                <a:latin typeface="Aptos"/>
              </a:defRPr>
            </a:pPr>
            <a:r>
              <a:t>PROTÓTIPO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27080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3000" b="1" i="0">
                <a:solidFill>
                  <a:srgbClr val="242925"/>
                </a:solidFill>
                <a:latin typeface="Aptos"/>
              </a:defRPr>
            </a:pPr>
            <a:r>
              <a:t>Um fluxo simples, do espaço ao horário.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8813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6D746E"/>
                </a:solidFill>
                <a:latin typeface="Aptos"/>
              </a:defRPr>
            </a:pPr>
            <a:r>
              <a:t>Wireframe funcional: a apresentação visual continua deliberadamente simples.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91656"/>
            <a:ext cx="10908792" cy="0"/>
          </a:xfrm>
          <a:prstGeom prst="line">
            <a:avLst/>
          </a:prstGeom>
          <a:ln w="10160">
            <a:solidFill>
              <a:srgbClr val="DC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José Baptista  ·  Rafael Vicente  |  X-Ops 2026/27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763524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7635240" cy="438912"/>
          </a:xfrm>
          <a:prstGeom prst="roundRect">
            <a:avLst>
              <a:gd name="adj" fmla="val 12000"/>
            </a:avLst>
          </a:prstGeom>
          <a:solidFill>
            <a:srgbClr val="EFF0ED"/>
          </a:solidFill>
          <a:ln w="10160">
            <a:solidFill>
              <a:srgbClr val="EFF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0208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AE5242"/>
          </a:solidFill>
          <a:ln w="10160">
            <a:solidFill>
              <a:srgbClr val="AE5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2415" y="20208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E1AB6D"/>
          </a:solidFill>
          <a:ln w="10160">
            <a:solidFill>
              <a:srgbClr val="E1A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16152" y="20208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5B7D65"/>
          </a:solidFill>
          <a:ln w="10160">
            <a:solidFill>
              <a:srgbClr val="5B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947672"/>
            <a:ext cx="5394960" cy="2103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6D746E"/>
                </a:solidFill>
                <a:latin typeface="Aptos"/>
              </a:defRPr>
            </a:pPr>
            <a:r>
              <a:t>ReservaStudy  /  protótipo de reservas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42032"/>
            <a:ext cx="6217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600" b="1" i="0">
                <a:solidFill>
                  <a:srgbClr val="242925"/>
                </a:solidFill>
                <a:latin typeface="Aptos"/>
              </a:defRPr>
            </a:pPr>
            <a:r>
              <a:t>Reservar sala de estudo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62179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6D746E"/>
                </a:solidFill>
                <a:latin typeface="Aptos"/>
              </a:defRPr>
            </a:pPr>
            <a:r>
              <a:t>1. Escolhe uma sala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2267712" cy="640080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5B7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337560"/>
            <a:ext cx="19385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242925"/>
                </a:solidFill>
                <a:latin typeface="Aptos"/>
              </a:defRPr>
            </a:pPr>
            <a:r>
              <a:t>Sala Lounge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3593591"/>
            <a:ext cx="193852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6D746E"/>
                </a:solidFill>
                <a:latin typeface="Aptos"/>
              </a:defRPr>
            </a:pPr>
            <a:r>
              <a:t>Até 2 pessoas · silêncio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46120"/>
            <a:ext cx="22677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3337560"/>
            <a:ext cx="19385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242925"/>
                </a:solidFill>
                <a:latin typeface="Aptos"/>
              </a:defRPr>
            </a:pPr>
            <a:r>
              <a:t>Atelier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3593591"/>
            <a:ext cx="193852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6D746E"/>
                </a:solidFill>
                <a:latin typeface="Aptos"/>
              </a:defRPr>
            </a:pPr>
            <a:r>
              <a:t>Até 4 pessoas · quadro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005072"/>
            <a:ext cx="22677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4096511"/>
            <a:ext cx="19385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242925"/>
                </a:solidFill>
                <a:latin typeface="Aptos"/>
              </a:defRPr>
            </a:pPr>
            <a:r>
              <a:t>Sala Norte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4352544"/>
            <a:ext cx="193852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6D746E"/>
                </a:solidFill>
                <a:latin typeface="Aptos"/>
              </a:defRPr>
            </a:pPr>
            <a:r>
              <a:t>Até 6 pessoas · ecrã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005072"/>
            <a:ext cx="22677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5576" y="4096511"/>
            <a:ext cx="1938528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1" i="0">
                <a:solidFill>
                  <a:srgbClr val="242925"/>
                </a:solidFill>
                <a:latin typeface="Aptos"/>
              </a:defRPr>
            </a:pPr>
            <a:r>
              <a:t>Sala Jardim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4352544"/>
            <a:ext cx="193852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6D746E"/>
                </a:solidFill>
                <a:latin typeface="Aptos"/>
              </a:defRPr>
            </a:pPr>
            <a:r>
              <a:t>Até 8 pessoas · luz natural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62179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6D746E"/>
                </a:solidFill>
                <a:latin typeface="Aptos"/>
              </a:defRPr>
            </a:pPr>
            <a:r>
              <a:t>2. Indica o dia e o horário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02352"/>
            <a:ext cx="1938528" cy="1737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6D746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312664"/>
            <a:ext cx="1938528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" y="5358384"/>
            <a:ext cx="173736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42925"/>
                </a:solidFill>
                <a:latin typeface="Aptos"/>
              </a:defRPr>
            </a:pPr>
            <a:r>
              <a:t>dd/mm/aaaa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5808" y="5102352"/>
            <a:ext cx="1143000" cy="1737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6D746E"/>
                </a:solidFill>
                <a:latin typeface="Aptos"/>
              </a:defRPr>
            </a:pPr>
            <a:r>
              <a:t>INÍCIO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35808" y="5312664"/>
            <a:ext cx="11430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36391" y="5358384"/>
            <a:ext cx="9418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42925"/>
                </a:solidFill>
                <a:latin typeface="Aptos"/>
              </a:defRPr>
            </a:pPr>
            <a:r>
              <a:t>14:00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52544" y="5102352"/>
            <a:ext cx="1143000" cy="1737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6D746E"/>
                </a:solidFill>
                <a:latin typeface="Aptos"/>
              </a:defRPr>
            </a:pPr>
            <a:r>
              <a:t>FIM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52544" y="5312664"/>
            <a:ext cx="11430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5358384"/>
            <a:ext cx="9418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242925"/>
                </a:solidFill>
                <a:latin typeface="Aptos"/>
              </a:defRPr>
            </a:pPr>
            <a:r>
              <a:t>15:00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87568" y="5312664"/>
            <a:ext cx="1481328" cy="384048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254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5349240"/>
            <a:ext cx="1335024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Verificar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1956816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5B7D65"/>
                </a:solidFill>
                <a:latin typeface="Aptos"/>
              </a:defRPr>
            </a:pPr>
            <a:r>
              <a:t>O QUE DEMONSTRAR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51460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2537460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510028"/>
            <a:ext cx="224028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242925"/>
                </a:solidFill>
                <a:latin typeface="Aptos"/>
              </a:defRPr>
            </a:pPr>
            <a:r>
              <a:t>Escolher uma das salas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338328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3406140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378708"/>
            <a:ext cx="224028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242925"/>
                </a:solidFill>
                <a:latin typeface="Aptos"/>
              </a:defRPr>
            </a:pPr>
            <a:r>
              <a:t>Indicar um intervalo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4251960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274820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247388"/>
            <a:ext cx="224028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242925"/>
                </a:solidFill>
                <a:latin typeface="Aptos"/>
              </a:defRPr>
            </a:pPr>
            <a:r>
              <a:t>Verificar conflito ou disponibilidade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68512" y="5257800"/>
            <a:ext cx="2560320" cy="603504"/>
          </a:xfrm>
          <a:prstGeom prst="roundRect">
            <a:avLst>
              <a:gd name="adj" fmla="val 12000"/>
            </a:avLst>
          </a:prstGeom>
          <a:solidFill>
            <a:srgbClr val="F5EDE2"/>
          </a:solidFill>
          <a:ln w="10160">
            <a:solidFill>
              <a:srgbClr val="EED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33104" y="5349240"/>
            <a:ext cx="224028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0" i="0">
                <a:solidFill>
                  <a:srgbClr val="242925"/>
                </a:solidFill>
                <a:latin typeface="Aptos"/>
              </a:defRPr>
            </a:pPr>
            <a:r>
              <a:t>Dados de demonstração; não representam disponibilidade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29260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54638"/>
                </a:solidFill>
                <a:latin typeface="Aptos"/>
              </a:defRPr>
            </a:pPr>
            <a:r>
              <a:t>RESERVASTUDY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256032"/>
            <a:ext cx="27432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900" b="1" i="0">
                <a:solidFill>
                  <a:srgbClr val="6D746E"/>
                </a:solidFill>
                <a:latin typeface="Aptos"/>
              </a:defRPr>
            </a:pPr>
            <a:r>
              <a:t>REGRAS &amp;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27080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3000" b="1" i="0">
                <a:solidFill>
                  <a:srgbClr val="242925"/>
                </a:solidFill>
                <a:latin typeface="Aptos"/>
              </a:defRPr>
            </a:pPr>
            <a:r>
              <a:t>O que acontece quando se tenta reservar?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8813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6D746E"/>
                </a:solidFill>
                <a:latin typeface="Aptos"/>
              </a:defRPr>
            </a:pPr>
            <a:r>
              <a:t>Critérios pequenos e verificáveis para o primeiro incremento.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91656"/>
            <a:ext cx="10908792" cy="0"/>
          </a:xfrm>
          <a:prstGeom prst="line">
            <a:avLst/>
          </a:prstGeom>
          <a:ln w="10160">
            <a:solidFill>
              <a:srgbClr val="DC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José Baptista  ·  Rafael Vicente  |  X-Ops 2026/27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84831"/>
            <a:ext cx="6766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249424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58568"/>
            <a:ext cx="393192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03703"/>
            <a:ext cx="54406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300" b="1" i="0">
                <a:solidFill>
                  <a:srgbClr val="242925"/>
                </a:solidFill>
                <a:latin typeface="Aptos"/>
              </a:defRPr>
            </a:pPr>
            <a:r>
              <a:t>Intervalo válido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96312"/>
            <a:ext cx="544068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6D746E"/>
                </a:solidFill>
                <a:latin typeface="Aptos"/>
              </a:defRPr>
            </a:pPr>
            <a:r>
              <a:t>Fim posterior ao início; entre as 08:00 e as 21:00.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6766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" y="3273552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82696"/>
            <a:ext cx="393192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27832"/>
            <a:ext cx="54406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300" b="1" i="0">
                <a:solidFill>
                  <a:srgbClr val="242925"/>
                </a:solidFill>
                <a:latin typeface="Aptos"/>
              </a:defRPr>
            </a:pPr>
            <a:r>
              <a:t>Sem sobreposição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20440"/>
            <a:ext cx="544068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6D746E"/>
                </a:solidFill>
                <a:latin typeface="Aptos"/>
              </a:defRPr>
            </a:pPr>
            <a:r>
              <a:t>A mesma sala não pode ter reservas coincidentes no mesmo 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33087"/>
            <a:ext cx="67665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688" y="4297679"/>
            <a:ext cx="393192" cy="393192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306824"/>
            <a:ext cx="393192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51959"/>
            <a:ext cx="54406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300" b="1" i="0">
                <a:solidFill>
                  <a:srgbClr val="242925"/>
                </a:solidFill>
                <a:latin typeface="Aptos"/>
              </a:defRPr>
            </a:pPr>
            <a:r>
              <a:t>Confirmação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44568"/>
            <a:ext cx="544068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0" i="0">
                <a:solidFill>
                  <a:srgbClr val="6D746E"/>
                </a:solidFill>
                <a:latin typeface="Aptos"/>
              </a:defRPr>
            </a:pPr>
            <a:r>
              <a:t>Uma reserva válida surge na lista e fica guardada neste navegador.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2084831"/>
            <a:ext cx="3493008" cy="2825496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254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2359152"/>
            <a:ext cx="2871216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DCE7DC"/>
                </a:solidFill>
                <a:latin typeface="Aptos"/>
              </a:defRPr>
            </a:pPr>
            <a:r>
              <a:t>TESTES AUTOMATIZADOS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798064"/>
            <a:ext cx="2871216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ptos"/>
              </a:defRPr>
            </a:pPr>
            <a:r>
              <a:t>7 /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776472"/>
            <a:ext cx="274320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Aptos"/>
              </a:defRPr>
            </a:pPr>
            <a:r>
              <a:t>a passar localmente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4334256"/>
            <a:ext cx="1353312" cy="29260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4347972"/>
            <a:ext cx="1225295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npm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468112"/>
            <a:ext cx="104241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200" b="0" i="1">
                <a:solidFill>
                  <a:srgbClr val="6D746E"/>
                </a:solidFill>
                <a:latin typeface="Aptos"/>
              </a:defRPr>
            </a:pPr>
            <a:r>
              <a:t>A disponibilidade é apenas local: ainda não há servidor que coordene reservas entre estudantes.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29260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254638"/>
                </a:solidFill>
                <a:latin typeface="Aptos"/>
              </a:defRPr>
            </a:pPr>
            <a:r>
              <a:t>RESERVASTUDY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3960" y="256032"/>
            <a:ext cx="27432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900" b="1" i="0">
                <a:solidFill>
                  <a:srgbClr val="6D746E"/>
                </a:solidFill>
                <a:latin typeface="Aptos"/>
              </a:defRPr>
            </a:pPr>
            <a:r>
              <a:t>DECISÕES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27080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3000" b="1" i="0">
                <a:solidFill>
                  <a:srgbClr val="242925"/>
                </a:solidFill>
                <a:latin typeface="Aptos"/>
              </a:defRPr>
            </a:pPr>
            <a:r>
              <a:t>Uma base pequena para evoluir.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35024"/>
            <a:ext cx="108813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0" i="0">
                <a:solidFill>
                  <a:srgbClr val="6D746E"/>
                </a:solidFill>
                <a:latin typeface="Aptos"/>
              </a:defRPr>
            </a:pPr>
            <a:r>
              <a:t>O objetivo não é simular um produto pronto, mas testar um fluxo e aprender com ele.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91656"/>
            <a:ext cx="10908792" cy="0"/>
          </a:xfrm>
          <a:prstGeom prst="line">
            <a:avLst/>
          </a:prstGeom>
          <a:ln w="10160">
            <a:solidFill>
              <a:srgbClr val="DC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473952"/>
            <a:ext cx="77724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José Baptista  ·  Rafael Vicente  |  X-Ops 2026/27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7315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defRPr sz="800" b="0" i="0">
                <a:solidFill>
                  <a:srgbClr val="6D746E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84831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86000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299716"/>
            <a:ext cx="1014983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43200"/>
            <a:ext cx="2926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242925"/>
                </a:solidFill>
                <a:latin typeface="Aptos"/>
              </a:defRPr>
            </a:pPr>
            <a:r>
              <a:t>Página web simples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2926080" cy="3931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0" i="0">
                <a:solidFill>
                  <a:srgbClr val="6D746E"/>
                </a:solidFill>
                <a:latin typeface="Aptos"/>
              </a:defRPr>
            </a:pPr>
            <a:r>
              <a:t>Escolher sala e indicar horário.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88336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1700" b="1" i="0">
                <a:solidFill>
                  <a:srgbClr val="5B7D6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084831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6008" y="2286000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299716"/>
            <a:ext cx="1014983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REGRAS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2743200"/>
            <a:ext cx="2926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242925"/>
                </a:solidFill>
                <a:latin typeface="Aptos"/>
              </a:defRPr>
            </a:pPr>
            <a:r>
              <a:t>Lógica separada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136392"/>
            <a:ext cx="2926080" cy="3931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0" i="0">
                <a:solidFill>
                  <a:srgbClr val="6D746E"/>
                </a:solidFill>
                <a:latin typeface="Aptos"/>
              </a:defRPr>
            </a:pPr>
            <a:r>
              <a:t>Validar datas, horas e conflitos.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2688336"/>
            <a:ext cx="274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1700" b="1" i="0">
                <a:solidFill>
                  <a:srgbClr val="5B7D6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2084831"/>
            <a:ext cx="340156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57616" y="2286000"/>
            <a:ext cx="1143000" cy="29260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2299716"/>
            <a:ext cx="1014983" cy="2468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743200"/>
            <a:ext cx="29260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500" b="1" i="0">
                <a:solidFill>
                  <a:srgbClr val="242925"/>
                </a:solidFill>
                <a:latin typeface="Aptos"/>
              </a:defRPr>
            </a:pPr>
            <a:r>
              <a:t>Armazenamento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136392"/>
            <a:ext cx="2926080" cy="3931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100" b="0" i="0">
                <a:solidFill>
                  <a:srgbClr val="6D746E"/>
                </a:solidFill>
                <a:latin typeface="Aptos"/>
              </a:defRPr>
            </a:pPr>
            <a:r>
              <a:t>Os dados ficam neste navegador.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069080"/>
            <a:ext cx="5166360" cy="1188720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254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279392"/>
            <a:ext cx="45262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DCE7DC"/>
                </a:solidFill>
                <a:latin typeface="Aptos"/>
              </a:defRPr>
            </a:pPr>
            <a:r>
              <a:t>NESTE INCREMENTO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590288"/>
            <a:ext cx="452628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Protótipo local · regras testadas · CI configurada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069080"/>
            <a:ext cx="516636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4279392"/>
            <a:ext cx="45262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5B7D65"/>
                </a:solidFill>
                <a:latin typeface="Aptos"/>
              </a:defRPr>
            </a:pPr>
            <a:r>
              <a:t>A DESENVOLVER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590288"/>
            <a:ext cx="45720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200" b="0" i="0">
                <a:solidFill>
                  <a:srgbClr val="242925"/>
                </a:solidFill>
                <a:latin typeface="Aptos"/>
              </a:defRPr>
            </a:pPr>
            <a:r>
              <a:t>Contas · backend partilhado · segurança · observabilidade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522976"/>
            <a:ext cx="10332720" cy="6126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0" i="1">
                <a:solidFill>
                  <a:srgbClr val="6D746E"/>
                </a:solidFill>
                <a:latin typeface="Aptos"/>
              </a:defRPr>
            </a:pPr>
            <a:r>
              <a:t>CI remota pendente de publicação no GitHub. Copilot Chat apoiou o desenvolvimento; ainda não há gate de IA.</a:t>
            </a:r>
            <a:br/>
            <a:r>
              <a:t>P1 (feedback arquitetural) a partir do Sprint 2 · P2 (reprodutibilidade dos gates) a partir do Sprint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84632"/>
            <a:ext cx="36576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000" b="1" i="0">
                <a:solidFill>
                  <a:srgbClr val="DCE7DC"/>
                </a:solidFill>
                <a:latin typeface="Aptos"/>
              </a:defRPr>
            </a:pPr>
            <a:r>
              <a:t>06  / 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97280"/>
            <a:ext cx="1042416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3300" b="1" i="0">
                <a:solidFill>
                  <a:srgbClr val="FFFFFF"/>
                </a:solidFill>
                <a:latin typeface="Aptos"/>
              </a:defRPr>
            </a:pPr>
            <a:r>
              <a:t>Do wireframe ao primeiro teste.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47088"/>
            <a:ext cx="9875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600" b="0" i="0">
                <a:solidFill>
                  <a:srgbClr val="CFDCD2"/>
                </a:solidFill>
                <a:latin typeface="Aptos"/>
              </a:defRPr>
            </a:pPr>
            <a:r>
              <a:t>Uma demonstração curta do que já é possível explorar.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651760"/>
            <a:ext cx="5029200" cy="713232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4C6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80720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25496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788920"/>
            <a:ext cx="393192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Escolher uma sala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651760"/>
            <a:ext cx="5029200" cy="713232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4C6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807208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825496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0296" y="2788920"/>
            <a:ext cx="393192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Tentar um horário já ocupado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593591"/>
            <a:ext cx="5029200" cy="713232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4C6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730752"/>
            <a:ext cx="393192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Reservar um horário livre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593591"/>
            <a:ext cx="5029200" cy="713232"/>
          </a:xfrm>
          <a:prstGeom prst="roundRect">
            <a:avLst>
              <a:gd name="adj" fmla="val 12000"/>
            </a:avLst>
          </a:prstGeom>
          <a:solidFill>
            <a:srgbClr val="254638"/>
          </a:solidFill>
          <a:ln w="10160">
            <a:solidFill>
              <a:srgbClr val="4C6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749039"/>
            <a:ext cx="384048" cy="384048"/>
          </a:xfrm>
          <a:prstGeom prst="roundRect">
            <a:avLst>
              <a:gd name="adj" fmla="val 12000"/>
            </a:avLst>
          </a:prstGeom>
          <a:solidFill>
            <a:srgbClr val="DCE7DC"/>
          </a:solidFill>
          <a:ln w="10160">
            <a:solidFill>
              <a:srgbClr val="DCE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767328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defRPr sz="900" b="1" i="0">
                <a:solidFill>
                  <a:srgbClr val="25463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3730752"/>
            <a:ext cx="393192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Executar `npm test`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4919472"/>
            <a:ext cx="10634472" cy="0"/>
          </a:xfrm>
          <a:prstGeom prst="line">
            <a:avLst/>
          </a:prstGeom>
          <a:ln w="12700">
            <a:solidFill>
              <a:srgbClr val="4B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5212080"/>
            <a:ext cx="49377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DCE7DC"/>
                </a:solidFill>
                <a:latin typeface="Aptos"/>
              </a:defRPr>
            </a:pPr>
            <a:r>
              <a:t>EQUIPA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504688"/>
            <a:ext cx="51206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José Baptista  ·  Rafael Vicente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212080"/>
            <a:ext cx="47548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900" b="1" i="0">
                <a:solidFill>
                  <a:srgbClr val="DCE7DC"/>
                </a:solidFill>
                <a:latin typeface="Aptos"/>
              </a:defRPr>
            </a:pPr>
            <a:r>
              <a:t>PERGUNTA PARA DISCUSSÃO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04688"/>
            <a:ext cx="4800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Que regra ou necessidade devemos validar a seguir?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437376"/>
            <a:ext cx="106984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defRPr sz="800" b="0" i="0">
                <a:solidFill>
                  <a:srgbClr val="B8C7BB"/>
                </a:solidFill>
                <a:latin typeface="Aptos"/>
              </a:defRPr>
            </a:pPr>
            <a:r>
              <a:t>ReservaStudy · protótipo inicial de Sprint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ReservaStudy | Revisão do Sprint 1</dc:title>
  <dc:subject>Protótipo inicial de reservas de salas de estudo</dc:subject>
  <dc:creator>José Baptista; Rafael Vicente</dc:creator>
  <cp:keywords>X-Ops, Sprint 1, reserva salas, protótipo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